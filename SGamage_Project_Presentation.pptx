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>
                <a:alpha val="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548640"/>
            <a:ext cx="4206240" cy="5760720"/>
          </a:xfrm>
          <a:prstGeom prst="rect">
            <a:avLst/>
          </a:prstGeom>
          <a:solidFill>
            <a:srgbClr val="E6A15A">
              <a:alpha val="78000"/>
            </a:srgbClr>
          </a:solidFill>
          <a:ln w="12700">
            <a:solidFill>
              <a:srgbClr val="E6A1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S.Gamage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Constructions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6700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6F2"/>
                </a:solidFill>
              </a:rPr>
              <a:t>Website + Hardware Shop + Admin Management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99"/>
                </a:solidFill>
              </a:rPr>
              <a:t>Project Presentation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3749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4E8"/>
                </a:solidFill>
              </a:rPr>
              <a:t>Prepared from the uploaded project ZIP structure, README, backend API, and frontend pages.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18120" y="9144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960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Construction 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555480" y="9144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5480" y="9601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Hardware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133502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3807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Delivery Workflow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55480" y="133502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13807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Portal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175564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801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 Panel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75564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1801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MongoDB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18120" y="2331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Areas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18120" y="2615184"/>
            <a:ext cx="384048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43238"/>
                </a:solidFill>
              </a:rPr>
              <a:t>Public company website for projects, services, careers and contact.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43238"/>
                </a:solidFill>
              </a:rPr>
              <a:t>Integrated hardware shop with advance-payment checkout and proof upload.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43238"/>
                </a:solidFill>
              </a:rPr>
              <a:t>Admin dashboard to manage content, orders, delivery team, inquiries and jobs.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43238"/>
                </a:solidFill>
              </a:rPr>
              <a:t>Customer and delivery portals for self-service and operational tracking.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877824" y="61081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CC"/>
                </a:solidFill>
              </a:rPr>
              <a:t>Department of Computing / Final Project Style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1. 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Project identity, purpose, target users and system overview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1E8DD"/>
          </a:solidFill>
          <a:ln w="12700">
            <a:solidFill>
              <a:srgbClr val="F1E8D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28016" cy="86868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25272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Project Name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1554480"/>
            <a:ext cx="5129784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S.Gamage Constructions Website and Management System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48840"/>
            <a:ext cx="128016" cy="182880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585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Purpose (Why this system?)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41248" y="2560320"/>
            <a:ext cx="5129784" cy="1335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To create one digital platform for construction services, project portfolio, customer inquiries and hardware sales.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To reduce manual order handling, communication gaps and content update delays.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EFE7DD"/>
          </a:solidFill>
          <a:ln w="12700">
            <a:solidFill>
              <a:srgbClr val="EFE7D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160520"/>
            <a:ext cx="128016" cy="169164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27024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Target Users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" y="4572000"/>
            <a:ext cx="5129784" cy="1197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General website visitors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Customers who buy hardware items or send inquiries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Admin staff who manage services, projects, products and orders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Delivery boys who update delivery progress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11430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238"/>
                </a:solidFill>
              </a:rPr>
              <a:t>Brief System Overview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56832" y="1737360"/>
            <a:ext cx="44348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238"/>
                </a:solidFill>
              </a:rPr>
              <a:t>This project is a full-stack web system that combines a business website, e-commerce-like hardware ordering, customer account management, delivery tracking, and an admin control panel in a single platform.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56832" y="297180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476C9B"/>
          </a:solidFill>
          <a:ln w="12700">
            <a:solidFill>
              <a:srgbClr val="476C9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30175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Frontend: HTML/CSS/JS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94192" y="29718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30175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Backend: Node + Express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222992" y="297180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F7D57"/>
          </a:solidFill>
          <a:ln w="12700">
            <a:solidFill>
              <a:srgbClr val="3F7D5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22992" y="3017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Database: MongoDB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01968" y="3474720"/>
            <a:ext cx="45720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70" dirty="0">
                <a:solidFill>
                  <a:srgbClr val="243238"/>
                </a:solidFill>
              </a:rPr>
              <a:t>Supports customer registration, login and profile management.</a:t>
            </a:r>
            <a:endParaRPr lang="en-US" sz="1470" dirty="0"/>
          </a:p>
          <a:p>
            <a:pPr marL="177800" indent="-177800">
              <a:buSzPct val="100000"/>
              <a:buChar char="•"/>
            </a:pPr>
            <a:r>
              <a:rPr lang="en-US" sz="1470" dirty="0">
                <a:solidFill>
                  <a:srgbClr val="243238"/>
                </a:solidFill>
              </a:rPr>
              <a:t>Provides shop checkout with advance-payment proof and WhatsApp confirmation.</a:t>
            </a:r>
            <a:endParaRPr lang="en-US" sz="1470" dirty="0"/>
          </a:p>
          <a:p>
            <a:pPr marL="177800" indent="-177800">
              <a:buSzPct val="100000"/>
              <a:buChar char="•"/>
            </a:pPr>
            <a:r>
              <a:rPr lang="en-US" sz="1470" dirty="0">
                <a:solidFill>
                  <a:srgbClr val="243238"/>
                </a:solidFill>
              </a:rPr>
              <a:t>Enables admin-side management for projects, services, products, orders and settings.</a:t>
            </a:r>
            <a:endParaRPr lang="en-US" sz="1470" dirty="0"/>
          </a:p>
          <a:p>
            <a:pPr marL="177800" indent="-177800">
              <a:buSzPct val="100000"/>
              <a:buChar char="•"/>
            </a:pPr>
            <a:r>
              <a:rPr lang="en-US" sz="1470" dirty="0">
                <a:solidFill>
                  <a:srgbClr val="243238"/>
                </a:solidFill>
              </a:rPr>
              <a:t>Includes inquiry replies, return requests and delivery workflow features.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2 &amp; 3. Problem Statement and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What problem exists and what the proposed system achieves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532120" cy="1874520"/>
          </a:xfrm>
          <a:prstGeom prst="roundRect">
            <a:avLst>
              <a:gd name="adj" fmla="val 3902"/>
            </a:avLst>
          </a:prstGeom>
          <a:solidFill>
            <a:srgbClr val="F6E7E1"/>
          </a:solidFill>
          <a:ln w="12700">
            <a:solidFill>
              <a:srgbClr val="F6E7E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128016" cy="1874520"/>
          </a:xfrm>
          <a:prstGeom prst="rect">
            <a:avLst/>
          </a:prstGeom>
          <a:solidFill>
            <a:srgbClr val="B8573D"/>
          </a:solidFill>
          <a:ln w="12700">
            <a:solidFill>
              <a:srgbClr val="B857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4416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Existing Problem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5221224" cy="1380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Construction businesses often use separate methods for advertising services, handling inquiries, tracking projects and managing orders.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Manual processes can cause delayed responses, weak order visibility and inconsistent customer communication.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532120" cy="1737360"/>
          </a:xfrm>
          <a:prstGeom prst="roundRect">
            <a:avLst>
              <a:gd name="adj" fmla="val 4211"/>
            </a:avLst>
          </a:prstGeom>
          <a:solidFill>
            <a:srgbClr val="EEF2E6"/>
          </a:solidFill>
          <a:ln w="12700">
            <a:solidFill>
              <a:srgbClr val="EEF2E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337560"/>
            <a:ext cx="128016" cy="1737360"/>
          </a:xfrm>
          <a:prstGeom prst="rect">
            <a:avLst/>
          </a:prstGeom>
          <a:solidFill>
            <a:srgbClr val="3F7D57"/>
          </a:solidFill>
          <a:ln w="12700">
            <a:solidFill>
              <a:srgbClr val="3F7D5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44728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Solution Provided by the System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41248" y="3749040"/>
            <a:ext cx="5221224" cy="1243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Integrates website content, hardware shopping, delivery coordination and administrative control in one centralized platform.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Improves customer convenience, operational efficiency and information management.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0" y="123444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238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6E2E"/>
                </a:solidFill>
              </a:rPr>
              <a:t>Main Objective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56832" y="2084832"/>
            <a:ext cx="43891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38"/>
                </a:solidFill>
              </a:rPr>
              <a:t>Develop an efficient web-based system for managing construction business information, hardware sales and customer interactions.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926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6E2E"/>
                </a:solidFill>
              </a:rPr>
              <a:t>Specific Objectives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1112" y="3200400"/>
            <a:ext cx="45720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70" dirty="0">
                <a:solidFill>
                  <a:srgbClr val="243238"/>
                </a:solidFill>
              </a:rPr>
              <a:t>Enable user registration, login and profile handling.</a:t>
            </a:r>
            <a:endParaRPr lang="en-US" sz="1470" dirty="0"/>
          </a:p>
          <a:p>
            <a:pPr marL="177800" indent="-177800">
              <a:buSzPct val="100000"/>
              <a:buChar char="•"/>
            </a:pPr>
            <a:r>
              <a:rPr lang="en-US" sz="1470" dirty="0">
                <a:solidFill>
                  <a:srgbClr val="243238"/>
                </a:solidFill>
              </a:rPr>
              <a:t>Manage services, projects, products, orders, inquiries and settings.</a:t>
            </a:r>
            <a:endParaRPr lang="en-US" sz="1470" dirty="0"/>
          </a:p>
          <a:p>
            <a:pPr marL="177800" indent="-177800">
              <a:buSzPct val="100000"/>
              <a:buChar char="•"/>
            </a:pPr>
            <a:r>
              <a:rPr lang="en-US" sz="1470" dirty="0">
                <a:solidFill>
                  <a:srgbClr val="243238"/>
                </a:solidFill>
              </a:rPr>
              <a:t>Support delivery updates, return requests and report-like admin views.</a:t>
            </a:r>
            <a:endParaRPr lang="en-US" sz="1470" dirty="0"/>
          </a:p>
          <a:p>
            <a:pPr marL="177800" indent="-177800">
              <a:buSzPct val="100000"/>
              <a:buChar char="•"/>
            </a:pPr>
            <a:r>
              <a:rPr lang="en-US" sz="1470" dirty="0">
                <a:solidFill>
                  <a:srgbClr val="243238"/>
                </a:solidFill>
              </a:rPr>
              <a:t>Improve the business image through an informative modern website.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4. System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High-level architecture and user roles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41248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</a:rPr>
              <a:t>Client Side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13248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</a:rPr>
              <a:t>Server Side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46920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05840" cy="640080"/>
          </a:xfrm>
          <a:prstGeom prst="chevron">
            <a:avLst/>
          </a:prstGeom>
          <a:solidFill>
            <a:srgbClr val="B8C6CC"/>
          </a:solidFill>
          <a:ln w="12700">
            <a:solidFill>
              <a:srgbClr val="B8C6C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2148840"/>
            <a:ext cx="1005840" cy="640080"/>
          </a:xfrm>
          <a:prstGeom prst="chevron">
            <a:avLst/>
          </a:prstGeom>
          <a:solidFill>
            <a:srgbClr val="B8C6CC"/>
          </a:solidFill>
          <a:ln w="12700">
            <a:solidFill>
              <a:srgbClr val="B8C6C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00200"/>
            <a:ext cx="2560320" cy="3566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7D0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60020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0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1600200"/>
            <a:ext cx="2514600" cy="35661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7D0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8745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Public Website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29968" y="18745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476C9B"/>
          </a:solidFill>
          <a:ln w="12700">
            <a:solidFill>
              <a:srgbClr val="476C9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920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Portal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" y="2267712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F7D57"/>
          </a:solidFill>
          <a:ln w="12700">
            <a:solidFill>
              <a:srgbClr val="3F7D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313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Delivery Portal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29968" y="226771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7A5C61"/>
          </a:solidFill>
          <a:ln w="12700">
            <a:solidFill>
              <a:srgbClr val="7A5C6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2313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 Panel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243238"/>
                </a:solidFill>
              </a:rPr>
              <a:t>HTML, CSS and JavaScript pages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243238"/>
                </a:solidFill>
              </a:rPr>
              <a:t>Shop, projects, careers and contact pages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243238"/>
                </a:solidFill>
              </a:rPr>
              <a:t>Role-based interfaces for customers, admin and riders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4892040" y="190195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9476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Express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53328" y="19019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476C9B"/>
          </a:solidFill>
          <a:ln w="12700">
            <a:solidFill>
              <a:srgbClr val="476C9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1947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JWT Auth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30428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F7D57"/>
          </a:solidFill>
          <a:ln w="12700">
            <a:solidFill>
              <a:srgbClr val="3F7D5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500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Logic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2304288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7A5C61"/>
          </a:solidFill>
          <a:ln w="12700">
            <a:solidFill>
              <a:srgbClr val="7A5C6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350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761488"/>
            <a:ext cx="22860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243238"/>
                </a:solidFill>
              </a:rPr>
              <a:t>Routes for auth, services, projects, reviews, inquiries, products and orders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243238"/>
                </a:solidFill>
              </a:rPr>
              <a:t>Admin APIs for managing operational data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243238"/>
                </a:solidFill>
              </a:rPr>
              <a:t>Payment, return and delivery utilities</a:t>
            </a:r>
            <a:endParaRPr lang="en-US" sz="1380" dirty="0"/>
          </a:p>
        </p:txBody>
      </p:sp>
      <p:sp>
        <p:nvSpPr>
          <p:cNvPr id="30" name="Shape 28"/>
          <p:cNvSpPr/>
          <p:nvPr/>
        </p:nvSpPr>
        <p:spPr>
          <a:xfrm>
            <a:off x="9308592" y="190195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F7D57"/>
          </a:solidFill>
          <a:ln w="12700">
            <a:solidFill>
              <a:srgbClr val="3F7D5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1947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MongoDB Atlas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08592" y="230428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8592" y="23500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Mongoose Models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17152" y="2770632"/>
            <a:ext cx="19659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243238"/>
                </a:solidFill>
              </a:rPr>
              <a:t>Stores users, products, orders, inquiries, settings and delivery data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243238"/>
                </a:solidFill>
              </a:rPr>
              <a:t>Centralized persistent data layer</a:t>
            </a:r>
            <a:endParaRPr lang="en-US" sz="1380" dirty="0"/>
          </a:p>
        </p:txBody>
      </p:sp>
      <p:sp>
        <p:nvSpPr>
          <p:cNvPr id="35" name="Text 33"/>
          <p:cNvSpPr/>
          <p:nvPr/>
        </p:nvSpPr>
        <p:spPr>
          <a:xfrm>
            <a:off x="749808" y="5532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238"/>
                </a:solidFill>
              </a:rPr>
              <a:t>User Roles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057400" y="548640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7A5C61"/>
          </a:solidFill>
          <a:ln w="12700">
            <a:solidFill>
              <a:srgbClr val="7A5C61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5532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548640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476C9B"/>
          </a:solidFill>
          <a:ln w="12700">
            <a:solidFill>
              <a:srgbClr val="476C9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5532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77640" y="548640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F7D57"/>
          </a:solidFill>
          <a:ln w="12700">
            <a:solidFill>
              <a:srgbClr val="3F7D5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7640" y="5532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Delivery Boy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548640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55321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Visitor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5458968"/>
            <a:ext cx="4617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43238"/>
                </a:solidFill>
              </a:rPr>
              <a:t>Admins manage data and operations; customers buy and track orders; delivery boys update assigned deliveries; visitors browse public content.</a:t>
            </a:r>
            <a:endParaRPr lang="en-US" sz="1270" dirty="0"/>
          </a:p>
        </p:txBody>
      </p:sp>
      <p:sp>
        <p:nvSpPr>
          <p:cNvPr id="45" name="Text 43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5. Functional Requirements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What the system is expected to do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128016" cy="169164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441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User &amp; Access Functions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3346704" cy="1197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Customer registration, login and profile update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Admin login with JWT-based authentication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Separate delivery-boy login and dashboard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EEF4EE"/>
          </a:solidFill>
          <a:ln w="12700">
            <a:solidFill>
              <a:srgbClr val="EEF4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234440"/>
            <a:ext cx="128016" cy="169164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13441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Content &amp; Data Management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81728" y="1645920"/>
            <a:ext cx="3346704" cy="1197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Manage services, projects, products, jobs and settings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Create, edit and delete records through admin APIs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Upload product/payment/delivery/return images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321040" y="123444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234440"/>
            <a:ext cx="128016" cy="169164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13441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Shop &amp; Order Processing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22208" y="1645920"/>
            <a:ext cx="2935224" cy="1197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Browse hardware catalog with search, sort and stock filtering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Add items to cart and place advance-payment orders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Generate WhatsApp confirmation link after checkout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EEF4EE"/>
          </a:solidFill>
          <a:ln w="12700">
            <a:solidFill>
              <a:srgbClr val="EEF4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46120"/>
            <a:ext cx="128016" cy="178308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3558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Customer Services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1248" y="3657600"/>
            <a:ext cx="3346704" cy="1289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Submit inquiries and view reply conversations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Request returns after delivery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Track order and delivery status from dashboard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480560" y="324612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246120"/>
            <a:ext cx="128016" cy="178308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33558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Admin Operations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681728" y="3657600"/>
            <a:ext cx="3346704" cy="1289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Review orders, verify payments and update delivery details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Manage delivery team members and suggestions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Handle reviews, job applications and return approvals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321040" y="324612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EEF4EE"/>
          </a:solidFill>
          <a:ln w="12700">
            <a:solidFill>
              <a:srgbClr val="EEF4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246120"/>
            <a:ext cx="128016" cy="178308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0496" y="33558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Additional Functionalities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522208" y="3657600"/>
            <a:ext cx="2935224" cy="1289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Search products and projects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Customer-visible notifications/status timeline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Health endpoint and Postman collections for API testing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6. Non-Functional Requirements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How the system should behave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61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344168"/>
            <a:ext cx="1463040" cy="420624"/>
          </a:xfrm>
          <a:prstGeom prst="roundRect">
            <a:avLst>
              <a:gd name="adj" fmla="val 8696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17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362456"/>
            <a:ext cx="8183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43238"/>
                </a:solidFill>
              </a:rPr>
              <a:t>Pages and API responses should load quickly enough for practical daily use.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0561320" cy="658368"/>
          </a:xfrm>
          <a:prstGeom prst="roundRect">
            <a:avLst>
              <a:gd name="adj" fmla="val 5556"/>
            </a:avLst>
          </a:prstGeom>
          <a:solidFill>
            <a:srgbClr val="F4EFE7"/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167128"/>
            <a:ext cx="1463040" cy="420624"/>
          </a:xfrm>
          <a:prstGeom prst="roundRect">
            <a:avLst>
              <a:gd name="adj" fmla="val 8696"/>
            </a:avLst>
          </a:prstGeom>
          <a:solidFill>
            <a:srgbClr val="3F7D57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40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185416"/>
            <a:ext cx="8183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43238"/>
                </a:solidFill>
              </a:rPr>
              <a:t>JWT authentication, password hashing and protected admin routes are required.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10561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2990088"/>
            <a:ext cx="1463040" cy="420624"/>
          </a:xfrm>
          <a:prstGeom prst="roundRect">
            <a:avLst>
              <a:gd name="adj" fmla="val 8696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06324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008376"/>
            <a:ext cx="8183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43238"/>
                </a:solidFill>
              </a:rPr>
              <a:t>Simple, user-friendly navigation for visitors, customers and admins.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10561320" cy="658368"/>
          </a:xfrm>
          <a:prstGeom prst="roundRect">
            <a:avLst>
              <a:gd name="adj" fmla="val 5556"/>
            </a:avLst>
          </a:prstGeom>
          <a:solidFill>
            <a:srgbClr val="F4EFE7"/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3813048"/>
            <a:ext cx="1463040" cy="420624"/>
          </a:xfrm>
          <a:prstGeom prst="roundRect">
            <a:avLst>
              <a:gd name="adj" fmla="val 8696"/>
            </a:avLst>
          </a:prstGeom>
          <a:solidFill>
            <a:srgbClr val="3F7D57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88620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Reliability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3831336"/>
            <a:ext cx="8183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43238"/>
                </a:solidFill>
              </a:rPr>
              <a:t>System should preserve data consistency for stock, orders and delivery updates.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10561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4636008"/>
            <a:ext cx="1463040" cy="420624"/>
          </a:xfrm>
          <a:prstGeom prst="roundRect">
            <a:avLst>
              <a:gd name="adj" fmla="val 8696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70916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7480" y="4654296"/>
            <a:ext cx="8183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43238"/>
                </a:solidFill>
              </a:rPr>
              <a:t>Modular routes/models allow future expansion of features and roles.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822960" y="5349240"/>
            <a:ext cx="10561320" cy="658368"/>
          </a:xfrm>
          <a:prstGeom prst="roundRect">
            <a:avLst>
              <a:gd name="adj" fmla="val 5556"/>
            </a:avLst>
          </a:prstGeom>
          <a:solidFill>
            <a:srgbClr val="F4EFE7"/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" y="5458968"/>
            <a:ext cx="1463040" cy="420624"/>
          </a:xfrm>
          <a:prstGeom prst="roundRect">
            <a:avLst>
              <a:gd name="adj" fmla="val 8696"/>
            </a:avLst>
          </a:prstGeom>
          <a:solidFill>
            <a:srgbClr val="3F7D57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5321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5477256"/>
            <a:ext cx="8183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43238"/>
                </a:solidFill>
              </a:rPr>
              <a:t>Website and API should remain accessible whenever customers need to browse or order.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8. Technologies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Main technologies identified from the uploaded project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28016" cy="160020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344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Frontend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86968" y="1645920"/>
            <a:ext cx="2340864" cy="11064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HTML5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CSS3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JavaScript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Tailwind CSS for admin pages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502152" y="123444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EEF4EE"/>
          </a:solidFill>
          <a:ln w="12700">
            <a:solidFill>
              <a:srgbClr val="EEF4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2152" y="1234440"/>
            <a:ext cx="128016" cy="160020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3441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Backend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703320" y="1645920"/>
            <a:ext cx="2112264" cy="11064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Node.js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Express.js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REST API structure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89904" y="123444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1234440"/>
            <a:ext cx="128016" cy="160020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344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Database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291072" y="1645920"/>
            <a:ext cx="1929384" cy="11064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MongoDB Atlas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Mongoose ODM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494776" y="123444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EEF4EE"/>
          </a:solidFill>
          <a:ln w="12700">
            <a:solidFill>
              <a:srgbClr val="EEF4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94776" y="1234440"/>
            <a:ext cx="128016" cy="160020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4232" y="1344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Security / Utilities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695944" y="1645920"/>
            <a:ext cx="2706624" cy="11064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bcryptjs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jsonwebtoken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dotenv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multer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cors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3154680"/>
            <a:ext cx="108356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383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238"/>
                </a:solidFill>
              </a:rPr>
              <a:t>Development / Support Tools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48463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243238"/>
                </a:solidFill>
              </a:rPr>
              <a:t>Git / version control workflow (recommended for source management)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243238"/>
                </a:solidFill>
              </a:rPr>
              <a:t>Postman collections provided for Products, Projects and Services APIs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243238"/>
                </a:solidFill>
              </a:rPr>
              <a:t>VS Code Live Server suggested for frontend execution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243238"/>
                </a:solidFill>
              </a:rPr>
              <a:t>Nodemon used for backend development mode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238"/>
                </a:solidFill>
              </a:rPr>
              <a:t>Why this stack fits the project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3749040"/>
            <a:ext cx="44805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243238"/>
                </a:solidFill>
              </a:rPr>
              <a:t>Lightweight frontend for public pages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243238"/>
                </a:solidFill>
              </a:rPr>
              <a:t>Express routes make feature modules easy to organize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243238"/>
                </a:solidFill>
              </a:rPr>
              <a:t>MongoDB is flexible for products, orders and delivery timelines</a:t>
            </a:r>
            <a:endParaRPr lang="en-US" sz="1480" dirty="0"/>
          </a:p>
        </p:txBody>
      </p:sp>
      <p:sp>
        <p:nvSpPr>
          <p:cNvPr id="25" name="Text 23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9.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How the system was developed and what was implemented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128016" cy="192024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3898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Frontend Pages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86968" y="1691640"/>
            <a:ext cx="3392424" cy="1426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Home, About, Services, Projects, Project Details, Careers, Contact and Shop pages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Customer dashboard, register/login pages and delivery portal pages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26280" y="1280160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EEF4EE"/>
          </a:solidFill>
          <a:ln w="12700">
            <a:solidFill>
              <a:srgbClr val="EEF4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280160"/>
            <a:ext cx="128016" cy="192024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13898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Backend Modules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727448" y="1691640"/>
            <a:ext cx="3392424" cy="1426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Models for users, products, projects, orders, reviews, inquiries, jobs and settings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Separate public, customer, admin and delivery route files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366760" y="128016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280160"/>
            <a:ext cx="128016" cy="192024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86216" y="13898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Special Features Implemented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67928" y="1691640"/>
            <a:ext cx="2843784" cy="1426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Advance payment checkout with proof upload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Owner vehicle delivery workflow and rider portal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Return request handling and inquiry-reply threads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108356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238"/>
                </a:solidFill>
              </a:rPr>
              <a:t>Implementation Summary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100126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243238"/>
                </a:solidFill>
              </a:rPr>
              <a:t>The system appears to be implemented as a modular full-stack application where static frontend pages communicate with a RESTful backend.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243238"/>
                </a:solidFill>
              </a:rPr>
              <a:t>Backend startup connects to MongoDB, ensures an admin user and exposes public and protected endpoints.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243238"/>
                </a:solidFill>
              </a:rPr>
              <a:t>Uploads are handled through a dedicated uploads path, enabling payment slips, proof images and return evidence storage.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10. 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Likely testing approach based on project files and routes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97280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D7D0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1920240" cy="457200"/>
          </a:xfrm>
          <a:prstGeom prst="rect">
            <a:avLst/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007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Testing Method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1554480"/>
            <a:ext cx="2743200" cy="457200"/>
          </a:xfrm>
          <a:prstGeom prst="rect">
            <a:avLst/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70078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Example Test Case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1554480"/>
            <a:ext cx="3063240" cy="457200"/>
          </a:xfrm>
          <a:prstGeom prst="rect">
            <a:avLst/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700784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Expected Result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15400" y="1554480"/>
            <a:ext cx="2468880" cy="457200"/>
          </a:xfrm>
          <a:prstGeom prst="rect">
            <a:avLst/>
          </a:prstGeom>
          <a:solidFill>
            <a:srgbClr val="243238"/>
          </a:solidFill>
          <a:ln w="12700">
            <a:solidFill>
              <a:srgbClr val="2432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0" y="17007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Observed / Intended Result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2011680"/>
            <a:ext cx="192024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2011680"/>
            <a:ext cx="274320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011680"/>
            <a:ext cx="306324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2011680"/>
            <a:ext cx="246888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084832"/>
            <a:ext cx="1810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API / Integration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2944368" y="2084832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GET /api/health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5824728" y="2084832"/>
            <a:ext cx="2953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Return ok:true and API name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8979408" y="2084832"/>
            <a:ext cx="235915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Backend health can be verified quickly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868680" y="2542032"/>
            <a:ext cx="192024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0360" y="2542032"/>
            <a:ext cx="274320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542032"/>
            <a:ext cx="306324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2542032"/>
            <a:ext cx="246888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2615184"/>
            <a:ext cx="1810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Authentication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2944368" y="2615184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Admin login with valid credentials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5824728" y="2615184"/>
            <a:ext cx="2953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JWT token returned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8979408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User gains protected access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868680" y="3072384"/>
            <a:ext cx="192024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80360" y="3072384"/>
            <a:ext cx="274320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3072384"/>
            <a:ext cx="306324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5400" y="3072384"/>
            <a:ext cx="246888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145536"/>
            <a:ext cx="1810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Functional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2944368" y="3145536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Place order with proof image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5824728" y="3145536"/>
            <a:ext cx="2953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Order created and payment status saved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8979408" y="3145536"/>
            <a:ext cx="235915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Supports advance-payment checkout</a:t>
            </a:r>
            <a:endParaRPr lang="en-US" sz="1170" dirty="0"/>
          </a:p>
        </p:txBody>
      </p:sp>
      <p:sp>
        <p:nvSpPr>
          <p:cNvPr id="37" name="Shape 35"/>
          <p:cNvSpPr/>
          <p:nvPr/>
        </p:nvSpPr>
        <p:spPr>
          <a:xfrm>
            <a:off x="868680" y="3602736"/>
            <a:ext cx="192024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3602736"/>
            <a:ext cx="274320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3602736"/>
            <a:ext cx="306324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5400" y="3602736"/>
            <a:ext cx="246888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3675888"/>
            <a:ext cx="1810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User Interface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2944368" y="3675888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Search / filter products in shop</a:t>
            </a:r>
            <a:endParaRPr lang="en-US" sz="1170" dirty="0"/>
          </a:p>
        </p:txBody>
      </p:sp>
      <p:sp>
        <p:nvSpPr>
          <p:cNvPr id="43" name="Text 41"/>
          <p:cNvSpPr/>
          <p:nvPr/>
        </p:nvSpPr>
        <p:spPr>
          <a:xfrm>
            <a:off x="5824728" y="3675888"/>
            <a:ext cx="2953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Relevant items displayed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8979408" y="3675888"/>
            <a:ext cx="235915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Improves user navigation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868680" y="4133088"/>
            <a:ext cx="192024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80360" y="4133088"/>
            <a:ext cx="274320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4133088"/>
            <a:ext cx="306324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15400" y="4133088"/>
            <a:ext cx="2468880" cy="530352"/>
          </a:xfrm>
          <a:prstGeom prst="rect">
            <a:avLst/>
          </a:prstGeom>
          <a:solidFill>
            <a:srgbClr val="F7F6F2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88" y="4206240"/>
            <a:ext cx="1810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Workflow</a:t>
            </a:r>
            <a:endParaRPr lang="en-US" sz="1170" dirty="0"/>
          </a:p>
        </p:txBody>
      </p:sp>
      <p:sp>
        <p:nvSpPr>
          <p:cNvPr id="50" name="Text 48"/>
          <p:cNvSpPr/>
          <p:nvPr/>
        </p:nvSpPr>
        <p:spPr>
          <a:xfrm>
            <a:off x="2944368" y="4206240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Delivery update by rider</a:t>
            </a:r>
            <a:endParaRPr lang="en-US" sz="1170" dirty="0"/>
          </a:p>
        </p:txBody>
      </p:sp>
      <p:sp>
        <p:nvSpPr>
          <p:cNvPr id="51" name="Text 49"/>
          <p:cNvSpPr/>
          <p:nvPr/>
        </p:nvSpPr>
        <p:spPr>
          <a:xfrm>
            <a:off x="5824728" y="4206240"/>
            <a:ext cx="2953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Timeline/status changes visible</a:t>
            </a:r>
            <a:endParaRPr lang="en-US" sz="1170" dirty="0"/>
          </a:p>
        </p:txBody>
      </p:sp>
      <p:sp>
        <p:nvSpPr>
          <p:cNvPr id="52" name="Text 50"/>
          <p:cNvSpPr/>
          <p:nvPr/>
        </p:nvSpPr>
        <p:spPr>
          <a:xfrm>
            <a:off x="8979408" y="4206240"/>
            <a:ext cx="235915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Tracks delivery progress</a:t>
            </a:r>
            <a:endParaRPr lang="en-US" sz="1170" dirty="0"/>
          </a:p>
        </p:txBody>
      </p:sp>
      <p:sp>
        <p:nvSpPr>
          <p:cNvPr id="53" name="Shape 51"/>
          <p:cNvSpPr/>
          <p:nvPr/>
        </p:nvSpPr>
        <p:spPr>
          <a:xfrm>
            <a:off x="868680" y="4663440"/>
            <a:ext cx="192024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80360" y="4663440"/>
            <a:ext cx="274320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60720" y="4663440"/>
            <a:ext cx="306324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15400" y="4663440"/>
            <a:ext cx="2468880" cy="530352"/>
          </a:xfrm>
          <a:prstGeom prst="rect">
            <a:avLst/>
          </a:prstGeom>
          <a:solidFill>
            <a:srgbClr val="EEE7DD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688" y="4736592"/>
            <a:ext cx="1810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Postman Testing</a:t>
            </a:r>
            <a:endParaRPr lang="en-US" sz="1170" dirty="0"/>
          </a:p>
        </p:txBody>
      </p:sp>
      <p:sp>
        <p:nvSpPr>
          <p:cNvPr id="58" name="Text 56"/>
          <p:cNvSpPr/>
          <p:nvPr/>
        </p:nvSpPr>
        <p:spPr>
          <a:xfrm>
            <a:off x="2944368" y="4736592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Run provided collections</a:t>
            </a:r>
            <a:endParaRPr lang="en-US" sz="1170" dirty="0"/>
          </a:p>
        </p:txBody>
      </p:sp>
      <p:sp>
        <p:nvSpPr>
          <p:cNvPr id="59" name="Text 57"/>
          <p:cNvSpPr/>
          <p:nvPr/>
        </p:nvSpPr>
        <p:spPr>
          <a:xfrm>
            <a:off x="5824728" y="4736592"/>
            <a:ext cx="295351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Services / projects / products APIs validated</a:t>
            </a:r>
            <a:endParaRPr lang="en-US" sz="1170" dirty="0"/>
          </a:p>
        </p:txBody>
      </p:sp>
      <p:sp>
        <p:nvSpPr>
          <p:cNvPr id="60" name="Text 58"/>
          <p:cNvSpPr/>
          <p:nvPr/>
        </p:nvSpPr>
        <p:spPr>
          <a:xfrm>
            <a:off x="8979408" y="4736592"/>
            <a:ext cx="235915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43238"/>
                </a:solidFill>
              </a:rPr>
              <a:t>Manual API verification supported</a:t>
            </a:r>
            <a:endParaRPr lang="en-US" sz="1170" dirty="0"/>
          </a:p>
        </p:txBody>
      </p:sp>
      <p:sp>
        <p:nvSpPr>
          <p:cNvPr id="61" name="Text 59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11. Challenges Faced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Important practical issues likely faced during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28016" cy="182880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356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Development Challenges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1737360"/>
            <a:ext cx="4992624" cy="1335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Managing many modules at once: website content, shop, orders, inquiries, returns and delivery workflows.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Learning and integrating several new technologies and packages together.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EF4EE"/>
          </a:solidFill>
          <a:ln w="12700">
            <a:solidFill>
              <a:srgbClr val="EEF4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25880"/>
            <a:ext cx="128016" cy="182880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43560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Technical Challenges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19088" y="1737360"/>
            <a:ext cx="4946904" cy="1335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Maintaining stock consistency and payment-related validations during order creation.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Designing secure authentication for admin, customer and delivery users.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Handling file uploads for payment slips, return images and delivery proof.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10744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66160"/>
            <a:ext cx="128016" cy="155448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675888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Project / Team Challenges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32688" y="3977640"/>
            <a:ext cx="104333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Time management when implementing many real-world business features.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Debugging API errors and coordinating frontend-backend integration.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Ensuring the system remains user-friendly while feature set keeps growing.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12. Future Improvements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Suggested next steps for expanding the project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128016" cy="402336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43560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Possible Enhancements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24128" y="1737360"/>
            <a:ext cx="5358384" cy="3529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Develop a mobile app for customers and delivery staff.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Add real-time notifications (email/SMS/push) for orders and inquiries.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Integrate an online payment gateway for automated payments.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Generate analytical reports and dashboards for sales, returns and deliveries.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Improve UI/UX with more polished responsive components.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Deploy to cloud hosting with domain, backup and monitoring support.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12280" y="1325880"/>
            <a:ext cx="4572000" cy="4023360"/>
          </a:xfrm>
          <a:prstGeom prst="roundRect">
            <a:avLst>
              <a:gd name="adj" fmla="val 1364"/>
            </a:avLst>
          </a:prstGeom>
          <a:solidFill>
            <a:srgbClr val="F6EFE6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238"/>
                </a:solidFill>
              </a:rPr>
              <a:t>Priority Improvement Areas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86600" y="199339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476C9B"/>
          </a:solidFill>
          <a:ln w="12700">
            <a:solidFill>
              <a:srgbClr val="476C9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39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99339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3F7D57"/>
          </a:solidFill>
          <a:ln w="12700">
            <a:solidFill>
              <a:srgbClr val="3F7D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0391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1993392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104120" y="199339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7A5C61"/>
          </a:solidFill>
          <a:ln w="12700">
            <a:solidFill>
              <a:srgbClr val="7A5C6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04120" y="20391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14032" y="2560320"/>
            <a:ext cx="35661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38"/>
                </a:solidFill>
              </a:rPr>
              <a:t>Better automation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38"/>
                </a:solidFill>
              </a:rPr>
              <a:t>Stronger business insights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38"/>
                </a:solidFill>
              </a:rPr>
              <a:t>More convenient customer experience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38"/>
                </a:solidFill>
              </a:rPr>
              <a:t>Production-ready deployment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13.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Project summary and achievements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6070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64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6E2E"/>
                </a:solidFill>
              </a:rPr>
              <a:t>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9692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238"/>
                </a:solidFill>
              </a:rPr>
              <a:t>The S.Gamage Constructions project successfully demonstrates a complete web-based business management solution that combines information sharing, product ordering, customer interaction and operational control in one platform.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6E2E"/>
                </a:solidFill>
              </a:rPr>
              <a:t>Achievements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3364992"/>
            <a:ext cx="97840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43238"/>
                </a:solidFill>
              </a:rPr>
              <a:t>Built a multi-role system with visitor, customer, admin and delivery-user support.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43238"/>
                </a:solidFill>
              </a:rPr>
              <a:t>Implemented important business workflows such as advance payments, delivery tracking, return management and inquiry replies.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43238"/>
                </a:solidFill>
              </a:rPr>
              <a:t>Used a practical MERN-style stack approach suitable for real-world business digitization.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238"/>
                </a:solidFill>
              </a:rPr>
              <a:t>14. 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Main sources used to prepare this presentation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6EFE6"/>
          </a:solidFill>
          <a:ln w="12700">
            <a:solidFill>
              <a:srgbClr val="F6EFE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128016" cy="210312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4356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Project Sources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24128" y="1737360"/>
            <a:ext cx="4901184" cy="1609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README.md inside the uploaded project ZIP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backend/package.json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backend/src/server.js and related route / model files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frontend HTML pages including index, shop, customer and admin views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EEF4EE"/>
          </a:solidFill>
          <a:ln w="12700">
            <a:solidFill>
              <a:srgbClr val="EEF4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325880"/>
            <a:ext cx="128016" cy="2331720"/>
          </a:xfrm>
          <a:prstGeom prst="rect">
            <a:avLst/>
          </a:prstGeom>
          <a:solidFill>
            <a:srgbClr val="C96E2E"/>
          </a:solidFill>
          <a:ln w="12700">
            <a:solidFill>
              <a:srgbClr val="C96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3096" y="143560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238"/>
                </a:solidFill>
              </a:rPr>
              <a:t>Documentation / Learning Resources (for final report)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64808" y="1737360"/>
            <a:ext cx="4809744" cy="1837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Node.js documentation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Express.js documentation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MongoDB and Mongoose documentation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JWT / bcrypt package documentation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43238"/>
                </a:solidFill>
              </a:rPr>
              <a:t>HTML, CSS and JavaScript tutorials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470"/>
                </a:solidFill>
              </a:rPr>
              <a:t>Note: You can further edit this presentation by adding your own screenshots, team member names, university logo and actual testing results.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64282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1E5"/>
                </a:solidFill>
              </a:rPr>
              <a:t>Based on uploaded project zip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S.Gamage Constructions Website and Management System</dc:title>
  <dc:subject>S.Gamage Constructions project presentation</dc:subject>
  <dc:creator>OpenAI</dc:creator>
  <cp:lastModifiedBy>OpenAI</cp:lastModifiedBy>
  <cp:revision>1</cp:revision>
  <dcterms:created xsi:type="dcterms:W3CDTF">2026-04-23T05:22:20Z</dcterms:created>
  <dcterms:modified xsi:type="dcterms:W3CDTF">2026-04-23T05:22:20Z</dcterms:modified>
</cp:coreProperties>
</file>